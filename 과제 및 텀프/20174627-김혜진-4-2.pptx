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70" r:id="rId4"/>
    <p:sldId id="271" r:id="rId5"/>
    <p:sldId id="272" r:id="rId6"/>
    <p:sldId id="274" r:id="rId7"/>
    <p:sldId id="273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CBA"/>
    <a:srgbClr val="DC66B9"/>
    <a:srgbClr val="010DFD"/>
    <a:srgbClr val="F9F9F9"/>
    <a:srgbClr val="73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1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14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979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69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01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260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34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025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427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0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90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7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26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6DF9D-2F7A-4593-97DF-29DC1D994907}" type="datetimeFigureOut">
              <a:rPr lang="ko-KR" altLang="en-US" smtClean="0"/>
              <a:t>2019-12-02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4D99D-E7E4-4F1D-99DA-2365B9614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94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0" y="1282700"/>
            <a:ext cx="12192000" cy="4470400"/>
            <a:chOff x="0" y="1282700"/>
            <a:chExt cx="12192000" cy="4470400"/>
          </a:xfrm>
          <a:blipFill>
            <a:blip r:embed="rId2"/>
            <a:stretch>
              <a:fillRect/>
            </a:stretch>
          </a:blipFill>
        </p:grpSpPr>
        <p:sp>
          <p:nvSpPr>
            <p:cNvPr id="9" name="자유형 8"/>
            <p:cNvSpPr/>
            <p:nvPr/>
          </p:nvSpPr>
          <p:spPr>
            <a:xfrm>
              <a:off x="0" y="1282700"/>
              <a:ext cx="12192000" cy="4266194"/>
            </a:xfrm>
            <a:custGeom>
              <a:avLst/>
              <a:gdLst>
                <a:gd name="connsiteX0" fmla="*/ 8307868 w 12192000"/>
                <a:gd name="connsiteY0" fmla="*/ 0 h 4266194"/>
                <a:gd name="connsiteX1" fmla="*/ 12192000 w 12192000"/>
                <a:gd name="connsiteY1" fmla="*/ 0 h 4266194"/>
                <a:gd name="connsiteX2" fmla="*/ 12192000 w 12192000"/>
                <a:gd name="connsiteY2" fmla="*/ 2 h 4266194"/>
                <a:gd name="connsiteX3" fmla="*/ 8307862 w 12192000"/>
                <a:gd name="connsiteY3" fmla="*/ 2 h 4266194"/>
                <a:gd name="connsiteX4" fmla="*/ 0 w 12192000"/>
                <a:gd name="connsiteY4" fmla="*/ 0 h 4266194"/>
                <a:gd name="connsiteX5" fmla="*/ 3147533 w 12192000"/>
                <a:gd name="connsiteY5" fmla="*/ 0 h 4266194"/>
                <a:gd name="connsiteX6" fmla="*/ 5727700 w 12192000"/>
                <a:gd name="connsiteY6" fmla="*/ 812800 h 4266194"/>
                <a:gd name="connsiteX7" fmla="*/ 8266538 w 12192000"/>
                <a:gd name="connsiteY7" fmla="*/ 13020 h 4266194"/>
                <a:gd name="connsiteX8" fmla="*/ 12192000 w 12192000"/>
                <a:gd name="connsiteY8" fmla="*/ 419100 h 4266194"/>
                <a:gd name="connsiteX9" fmla="*/ 12192000 w 12192000"/>
                <a:gd name="connsiteY9" fmla="*/ 3810000 h 4266194"/>
                <a:gd name="connsiteX10" fmla="*/ 9050241 w 12192000"/>
                <a:gd name="connsiteY10" fmla="*/ 4266062 h 4266194"/>
                <a:gd name="connsiteX11" fmla="*/ 6470651 w 12192000"/>
                <a:gd name="connsiteY11" fmla="*/ 3810000 h 4266194"/>
                <a:gd name="connsiteX12" fmla="*/ 3890316 w 12192000"/>
                <a:gd name="connsiteY12" fmla="*/ 4266194 h 4266194"/>
                <a:gd name="connsiteX13" fmla="*/ 0 w 12192000"/>
                <a:gd name="connsiteY13" fmla="*/ 3810000 h 426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2000" h="4266194">
                  <a:moveTo>
                    <a:pt x="8307868" y="0"/>
                  </a:moveTo>
                  <a:lnTo>
                    <a:pt x="12192000" y="0"/>
                  </a:lnTo>
                  <a:lnTo>
                    <a:pt x="12192000" y="2"/>
                  </a:lnTo>
                  <a:lnTo>
                    <a:pt x="8307862" y="2"/>
                  </a:lnTo>
                  <a:close/>
                  <a:moveTo>
                    <a:pt x="0" y="0"/>
                  </a:moveTo>
                  <a:lnTo>
                    <a:pt x="3147533" y="0"/>
                  </a:lnTo>
                  <a:lnTo>
                    <a:pt x="5727700" y="812800"/>
                  </a:lnTo>
                  <a:lnTo>
                    <a:pt x="8266538" y="13020"/>
                  </a:lnTo>
                  <a:lnTo>
                    <a:pt x="12192000" y="419100"/>
                  </a:lnTo>
                  <a:lnTo>
                    <a:pt x="12192000" y="3810000"/>
                  </a:lnTo>
                  <a:lnTo>
                    <a:pt x="9050241" y="4266062"/>
                  </a:lnTo>
                  <a:lnTo>
                    <a:pt x="6470651" y="3810000"/>
                  </a:lnTo>
                  <a:lnTo>
                    <a:pt x="3890316" y="4266194"/>
                  </a:lnTo>
                  <a:lnTo>
                    <a:pt x="0" y="381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16200000" flipH="1" flipV="1">
              <a:off x="1593850" y="3409951"/>
              <a:ext cx="749299" cy="3937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9618388" y="6366165"/>
            <a:ext cx="3387698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solidFill>
                  <a:schemeClr val="bg2">
                    <a:lumMod val="50000"/>
                  </a:schemeClr>
                </a:solidFill>
              </a:rPr>
              <a:t>20174627 </a:t>
            </a:r>
            <a:r>
              <a:rPr lang="ko-KR" altLang="en-US" sz="1600" b="1" dirty="0" smtClean="0">
                <a:solidFill>
                  <a:schemeClr val="bg2">
                    <a:lumMod val="50000"/>
                  </a:schemeClr>
                </a:solidFill>
              </a:rPr>
              <a:t>김혜진</a:t>
            </a:r>
            <a:endParaRPr lang="ko-KR" altLang="en-US" sz="9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0191" y="2630967"/>
            <a:ext cx="5633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altLang="ko-K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omputer</a:t>
            </a:r>
          </a:p>
          <a:p>
            <a:pPr algn="ctr"/>
            <a:r>
              <a:rPr lang="en-US" altLang="ko-K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ko-KR" sz="4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etwork</a:t>
            </a:r>
            <a:endParaRPr lang="ko-KR" altLang="en-US" sz="9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1903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988" y="307077"/>
            <a:ext cx="3779678" cy="39146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73" y="1004710"/>
            <a:ext cx="7413980" cy="37218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357" t="55332" r="55779"/>
          <a:stretch/>
        </p:blipFill>
        <p:spPr>
          <a:xfrm>
            <a:off x="5746043" y="3021717"/>
            <a:ext cx="6124567" cy="31309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액자 4"/>
          <p:cNvSpPr/>
          <p:nvPr/>
        </p:nvSpPr>
        <p:spPr>
          <a:xfrm>
            <a:off x="6138508" y="5477078"/>
            <a:ext cx="1842735" cy="22381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763" y="5477078"/>
            <a:ext cx="4515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/>
              <a:t>192.168.0.3 </a:t>
            </a:r>
            <a:r>
              <a:rPr lang="ko-KR" altLang="en-US" sz="2800" b="1" dirty="0" smtClean="0"/>
              <a:t>이다</a:t>
            </a:r>
            <a:r>
              <a:rPr lang="en-US" altLang="ko-KR" sz="2800" b="1" dirty="0" smtClean="0"/>
              <a:t>.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0761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84618" y="3684188"/>
            <a:ext cx="4515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ICMP(1)</a:t>
            </a:r>
            <a:r>
              <a:rPr lang="ko-KR" altLang="en-US" sz="2400" b="1" dirty="0" smtClean="0"/>
              <a:t>이다</a:t>
            </a:r>
            <a:r>
              <a:rPr lang="en-US" altLang="ko-KR" sz="2400" b="1" dirty="0" smtClean="0"/>
              <a:t>.</a:t>
            </a:r>
            <a:endParaRPr lang="ko-KR" altLang="en-US" sz="24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665" y="318611"/>
            <a:ext cx="3825684" cy="36839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9" y="1152659"/>
            <a:ext cx="6855040" cy="5281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액자 4"/>
          <p:cNvSpPr/>
          <p:nvPr/>
        </p:nvSpPr>
        <p:spPr>
          <a:xfrm>
            <a:off x="685974" y="2790322"/>
            <a:ext cx="1312159" cy="22381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4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61955" y="3091354"/>
            <a:ext cx="45155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IP header = 20byte</a:t>
            </a:r>
          </a:p>
          <a:p>
            <a:pPr algn="ctr"/>
            <a:r>
              <a:rPr lang="en-US" altLang="ko-KR" sz="2000" b="1" dirty="0" smtClean="0"/>
              <a:t>Total Length = 56byte</a:t>
            </a:r>
          </a:p>
          <a:p>
            <a:pPr algn="ctr"/>
            <a:endParaRPr lang="en-US" altLang="ko-KR" sz="2000" b="1" dirty="0"/>
          </a:p>
          <a:p>
            <a:pPr algn="ctr"/>
            <a:r>
              <a:rPr lang="ko-KR" altLang="en-US" sz="2000" b="1" dirty="0" smtClean="0"/>
              <a:t>따라서</a:t>
            </a:r>
            <a:endParaRPr lang="en-US" altLang="ko-KR" sz="2000" b="1" dirty="0" smtClean="0"/>
          </a:p>
          <a:p>
            <a:pPr algn="ctr"/>
            <a:r>
              <a:rPr lang="ko-KR" altLang="en-US" sz="2000" b="1" dirty="0" smtClean="0"/>
              <a:t>페이로드 크기 </a:t>
            </a:r>
            <a:r>
              <a:rPr lang="en-US" altLang="ko-KR" sz="2000" b="1" dirty="0"/>
              <a:t>=</a:t>
            </a:r>
            <a:r>
              <a:rPr lang="en-US" altLang="ko-KR" sz="2000" b="1" dirty="0" smtClean="0"/>
              <a:t> 36byte</a:t>
            </a:r>
            <a:endParaRPr lang="ko-KR" altLang="en-US" sz="2000" b="1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9" y="1152659"/>
            <a:ext cx="6855040" cy="5281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액자 4"/>
          <p:cNvSpPr/>
          <p:nvPr/>
        </p:nvSpPr>
        <p:spPr>
          <a:xfrm>
            <a:off x="685974" y="1781077"/>
            <a:ext cx="2711982" cy="27350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997" y="303974"/>
            <a:ext cx="7046736" cy="391485"/>
          </a:xfrm>
          <a:prstGeom prst="rect">
            <a:avLst/>
          </a:prstGeom>
        </p:spPr>
      </p:pic>
      <p:sp>
        <p:nvSpPr>
          <p:cNvPr id="9" name="액자 8"/>
          <p:cNvSpPr/>
          <p:nvPr/>
        </p:nvSpPr>
        <p:spPr>
          <a:xfrm>
            <a:off x="685974" y="2107759"/>
            <a:ext cx="2711982" cy="273501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46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45" y="1302807"/>
            <a:ext cx="6776156" cy="507501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92625" y="3024704"/>
            <a:ext cx="45155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Fragment </a:t>
            </a:r>
            <a:r>
              <a:rPr lang="ko-KR" altLang="en-US" sz="2000" b="1" dirty="0" smtClean="0"/>
              <a:t>값을 통해</a:t>
            </a:r>
            <a:endParaRPr lang="en-US" altLang="ko-KR" sz="2000" b="1" dirty="0" smtClean="0"/>
          </a:p>
          <a:p>
            <a:pPr algn="ctr"/>
            <a:r>
              <a:rPr lang="ko-KR" altLang="en-US" sz="2000" b="1" dirty="0" smtClean="0"/>
              <a:t>단편화 여부를 알 수 있으며</a:t>
            </a:r>
            <a:r>
              <a:rPr lang="en-US" altLang="ko-KR" sz="2000" b="1" dirty="0" smtClean="0"/>
              <a:t>,</a:t>
            </a:r>
          </a:p>
          <a:p>
            <a:pPr algn="ctr"/>
            <a:endParaRPr lang="en-US" altLang="ko-KR" sz="2000" b="1" dirty="0" smtClean="0"/>
          </a:p>
          <a:p>
            <a:pPr algn="ctr"/>
            <a:r>
              <a:rPr lang="ko-KR" altLang="en-US" sz="2000" b="1" dirty="0" smtClean="0"/>
              <a:t>현재 세 부분 다 값이 없는 걸로 보아 데이터 그램은 단편화 되지 않았다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5" name="액자 4"/>
          <p:cNvSpPr/>
          <p:nvPr/>
        </p:nvSpPr>
        <p:spPr>
          <a:xfrm>
            <a:off x="956907" y="3818924"/>
            <a:ext cx="4608515" cy="798232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196" y="226689"/>
            <a:ext cx="6334489" cy="55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47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36637" y="5619584"/>
            <a:ext cx="4515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IDENTIFICATION </a:t>
            </a:r>
            <a:r>
              <a:rPr lang="ko-KR" altLang="en-US" sz="2000" b="1" dirty="0"/>
              <a:t>와 </a:t>
            </a:r>
            <a:r>
              <a:rPr lang="en-US" altLang="ko-KR" sz="2000" b="1" dirty="0" smtClean="0"/>
              <a:t>TTL</a:t>
            </a:r>
            <a:r>
              <a:rPr lang="ko-KR" altLang="en-US" sz="2000" b="1" dirty="0" smtClean="0"/>
              <a:t>이 변한다</a:t>
            </a:r>
            <a:r>
              <a:rPr lang="en-US" altLang="ko-KR" sz="2000" b="1" dirty="0" smtClean="0"/>
              <a:t>.</a:t>
            </a:r>
            <a:endParaRPr lang="ko-KR" altLang="en-US" sz="2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98" y="222456"/>
            <a:ext cx="6567105" cy="561291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914687" y="1770218"/>
            <a:ext cx="5062537" cy="3446650"/>
            <a:chOff x="335845" y="1302807"/>
            <a:chExt cx="6776156" cy="507501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5" y="1302807"/>
              <a:ext cx="6776156" cy="507501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액자 4"/>
            <p:cNvSpPr/>
            <p:nvPr/>
          </p:nvSpPr>
          <p:spPr>
            <a:xfrm>
              <a:off x="787575" y="3042080"/>
              <a:ext cx="2971626" cy="288142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액자 9"/>
            <p:cNvSpPr/>
            <p:nvPr/>
          </p:nvSpPr>
          <p:spPr>
            <a:xfrm>
              <a:off x="787575" y="4565878"/>
              <a:ext cx="2971626" cy="288142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186438" y="1770218"/>
            <a:ext cx="5110804" cy="3446650"/>
            <a:chOff x="3467100" y="1614487"/>
            <a:chExt cx="5257800" cy="3629025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67100" y="1614487"/>
              <a:ext cx="5257800" cy="362902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4" name="액자 13"/>
            <p:cNvSpPr/>
            <p:nvPr/>
          </p:nvSpPr>
          <p:spPr>
            <a:xfrm>
              <a:off x="3842158" y="2931557"/>
              <a:ext cx="2323091" cy="223429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액자 14"/>
            <p:cNvSpPr/>
            <p:nvPr/>
          </p:nvSpPr>
          <p:spPr>
            <a:xfrm>
              <a:off x="3823781" y="4073456"/>
              <a:ext cx="2341468" cy="237837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16" y="1093310"/>
            <a:ext cx="11725275" cy="4095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33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5138" y="4706274"/>
            <a:ext cx="69433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Header checksum</a:t>
            </a:r>
            <a:r>
              <a:rPr lang="ko-KR" altLang="en-US" sz="2000" b="1" dirty="0" smtClean="0"/>
              <a:t>도 값이 바뀌기는 하는데</a:t>
            </a:r>
            <a:r>
              <a:rPr lang="en-US" altLang="ko-KR" sz="2000" b="1" dirty="0" smtClean="0"/>
              <a:t>,</a:t>
            </a:r>
          </a:p>
          <a:p>
            <a:pPr algn="ctr"/>
            <a:r>
              <a:rPr lang="ko-KR" altLang="en-US" sz="2000" b="1" dirty="0" smtClean="0"/>
              <a:t>이같은 경우엔 내가 </a:t>
            </a:r>
            <a:r>
              <a:rPr lang="en-US" altLang="ko-KR" sz="2000" b="1" dirty="0" smtClean="0"/>
              <a:t>Request </a:t>
            </a:r>
            <a:r>
              <a:rPr lang="ko-KR" altLang="en-US" sz="2000" b="1" dirty="0" smtClean="0"/>
              <a:t>메시지를 보낼 때가 아니라</a:t>
            </a:r>
            <a:endParaRPr lang="en-US" altLang="ko-KR" sz="2000" b="1" dirty="0"/>
          </a:p>
          <a:p>
            <a:pPr algn="ctr"/>
            <a:r>
              <a:rPr lang="ko-KR" altLang="en-US" sz="2000" b="1" dirty="0" smtClean="0"/>
              <a:t>목적지 </a:t>
            </a:r>
            <a:r>
              <a:rPr lang="ko-KR" altLang="en-US" sz="2000" b="1" dirty="0"/>
              <a:t>시스템에 도달하기 이전에 </a:t>
            </a:r>
            <a:r>
              <a:rPr lang="en-US" altLang="ko-KR" sz="2000" b="1" dirty="0"/>
              <a:t>TTL </a:t>
            </a:r>
            <a:r>
              <a:rPr lang="ko-KR" altLang="en-US" sz="2000" b="1" dirty="0"/>
              <a:t>값이 </a:t>
            </a:r>
            <a:r>
              <a:rPr lang="en-US" altLang="ko-KR" sz="2000" b="1" dirty="0" smtClean="0"/>
              <a:t>0</a:t>
            </a:r>
            <a:r>
              <a:rPr lang="ko-KR" altLang="en-US" sz="2000" b="1" dirty="0" smtClean="0"/>
              <a:t>이 되었을</a:t>
            </a:r>
            <a:endParaRPr lang="en-US" altLang="ko-KR" sz="2000" b="1" dirty="0" smtClean="0"/>
          </a:p>
          <a:p>
            <a:pPr algn="ctr"/>
            <a:r>
              <a:rPr lang="ko-KR" altLang="en-US" sz="2000" b="1" dirty="0" smtClean="0"/>
              <a:t>경우에 값이 바뀌는 걸 확인 할 수 있었다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98" y="222456"/>
            <a:ext cx="6567105" cy="561291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436060" y="1374612"/>
            <a:ext cx="5481192" cy="2783027"/>
            <a:chOff x="335845" y="1805001"/>
            <a:chExt cx="6776156" cy="3555494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3"/>
            <a:srcRect t="9895" b="20046"/>
            <a:stretch/>
          </p:blipFill>
          <p:spPr>
            <a:xfrm>
              <a:off x="335845" y="1805001"/>
              <a:ext cx="6776156" cy="355549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2" name="액자 11"/>
            <p:cNvSpPr/>
            <p:nvPr/>
          </p:nvSpPr>
          <p:spPr>
            <a:xfrm>
              <a:off x="787575" y="5069495"/>
              <a:ext cx="4484336" cy="288142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100354" y="1374612"/>
            <a:ext cx="5347575" cy="2783027"/>
            <a:chOff x="4893463" y="4533574"/>
            <a:chExt cx="5143500" cy="26574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3463" y="4533574"/>
              <a:ext cx="5143500" cy="2657475"/>
            </a:xfrm>
            <a:prstGeom prst="rect">
              <a:avLst/>
            </a:prstGeom>
          </p:spPr>
        </p:pic>
        <p:sp>
          <p:nvSpPr>
            <p:cNvPr id="18" name="액자 17"/>
            <p:cNvSpPr/>
            <p:nvPr/>
          </p:nvSpPr>
          <p:spPr>
            <a:xfrm>
              <a:off x="5245693" y="6983434"/>
              <a:ext cx="3479207" cy="197728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77" y="962581"/>
            <a:ext cx="10191750" cy="209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96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21" y="235634"/>
            <a:ext cx="6055995" cy="534353"/>
          </a:xfrm>
          <a:prstGeom prst="rect">
            <a:avLst/>
          </a:prstGeom>
        </p:spPr>
      </p:pic>
      <p:grpSp>
        <p:nvGrpSpPr>
          <p:cNvPr id="35" name="그룹 34"/>
          <p:cNvGrpSpPr/>
          <p:nvPr/>
        </p:nvGrpSpPr>
        <p:grpSpPr>
          <a:xfrm>
            <a:off x="301321" y="1945341"/>
            <a:ext cx="11316937" cy="4249272"/>
            <a:chOff x="301321" y="1945341"/>
            <a:chExt cx="11316937" cy="4249272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t="919"/>
            <a:stretch/>
          </p:blipFill>
          <p:spPr>
            <a:xfrm>
              <a:off x="488855" y="1945341"/>
              <a:ext cx="6868076" cy="4249271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액자 4"/>
            <p:cNvSpPr/>
            <p:nvPr/>
          </p:nvSpPr>
          <p:spPr>
            <a:xfrm>
              <a:off x="867259" y="5800145"/>
              <a:ext cx="2207635" cy="394468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액자 8"/>
            <p:cNvSpPr/>
            <p:nvPr/>
          </p:nvSpPr>
          <p:spPr>
            <a:xfrm>
              <a:off x="867258" y="2725251"/>
              <a:ext cx="3247542" cy="206208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액자 9"/>
            <p:cNvSpPr/>
            <p:nvPr/>
          </p:nvSpPr>
          <p:spPr>
            <a:xfrm>
              <a:off x="867259" y="2931459"/>
              <a:ext cx="5058411" cy="224118"/>
            </a:xfrm>
            <a:prstGeom prst="frame">
              <a:avLst>
                <a:gd name="adj1" fmla="val 2600"/>
              </a:avLst>
            </a:prstGeom>
            <a:solidFill>
              <a:srgbClr val="FF00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액자 11"/>
            <p:cNvSpPr/>
            <p:nvPr/>
          </p:nvSpPr>
          <p:spPr>
            <a:xfrm>
              <a:off x="867259" y="5218041"/>
              <a:ext cx="1553212" cy="187677"/>
            </a:xfrm>
            <a:prstGeom prst="frame">
              <a:avLst>
                <a:gd name="adj1" fmla="val 2600"/>
              </a:avLst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액자 12"/>
            <p:cNvSpPr/>
            <p:nvPr/>
          </p:nvSpPr>
          <p:spPr>
            <a:xfrm>
              <a:off x="867258" y="2528309"/>
              <a:ext cx="1902836" cy="196941"/>
            </a:xfrm>
            <a:prstGeom prst="frame">
              <a:avLst>
                <a:gd name="adj1" fmla="val 2600"/>
              </a:avLst>
            </a:prstGeom>
            <a:ln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설명선 2 13"/>
            <p:cNvSpPr/>
            <p:nvPr/>
          </p:nvSpPr>
          <p:spPr>
            <a:xfrm>
              <a:off x="8229599" y="1985944"/>
              <a:ext cx="3388659" cy="108473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79442"/>
                <a:gd name="adj6" fmla="val -121799"/>
              </a:avLst>
            </a:prstGeom>
            <a:solidFill>
              <a:srgbClr val="FEBCBA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smtClean="0">
                  <a:solidFill>
                    <a:schemeClr val="tx1"/>
                  </a:solidFill>
                </a:rPr>
                <a:t>하나의 목적지로 보냄</a:t>
              </a:r>
              <a:endParaRPr lang="ko-KR" altLang="en-US" b="1">
                <a:solidFill>
                  <a:schemeClr val="tx1"/>
                </a:solidFill>
              </a:endParaRPr>
            </a:p>
          </p:txBody>
        </p:sp>
        <p:sp>
          <p:nvSpPr>
            <p:cNvPr id="15" name="설명선 2 14"/>
            <p:cNvSpPr/>
            <p:nvPr/>
          </p:nvSpPr>
          <p:spPr>
            <a:xfrm>
              <a:off x="8229599" y="5092242"/>
              <a:ext cx="3388659" cy="108473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21591"/>
                <a:gd name="adj6" fmla="val -171270"/>
              </a:avLst>
            </a:prstGeom>
            <a:ln w="28575"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chemeClr val="tx1"/>
                  </a:solidFill>
                </a:rPr>
                <a:t>현재 </a:t>
              </a:r>
              <a:r>
                <a:rPr lang="en-US" altLang="ko-KR" b="1" dirty="0" smtClean="0">
                  <a:solidFill>
                    <a:schemeClr val="tx1"/>
                  </a:solidFill>
                </a:rPr>
                <a:t>IPv4</a:t>
              </a:r>
              <a:r>
                <a:rPr lang="ko-KR" altLang="en-US" b="1" dirty="0" smtClean="0">
                  <a:solidFill>
                    <a:schemeClr val="tx1"/>
                  </a:solidFill>
                </a:rPr>
                <a:t>를 사용함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설명선 2 15"/>
            <p:cNvSpPr/>
            <p:nvPr/>
          </p:nvSpPr>
          <p:spPr>
            <a:xfrm>
              <a:off x="8229599" y="3527611"/>
              <a:ext cx="3388659" cy="1084730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36260"/>
                <a:gd name="adj6" fmla="val -68359"/>
              </a:avLst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smtClean="0">
                  <a:solidFill>
                    <a:schemeClr val="tx1"/>
                  </a:solidFill>
                </a:rPr>
                <a:t>같은 타입의 </a:t>
              </a:r>
              <a:endParaRPr lang="en-US" altLang="ko-KR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b="1" dirty="0" smtClean="0">
                  <a:solidFill>
                    <a:schemeClr val="tx1"/>
                  </a:solidFill>
                </a:rPr>
                <a:t>서비스 클래스를</a:t>
              </a:r>
              <a:endParaRPr lang="en-US" altLang="ko-KR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b="1" dirty="0" smtClean="0">
                  <a:solidFill>
                    <a:schemeClr val="tx1"/>
                  </a:solidFill>
                </a:rPr>
                <a:t>사용하는 </a:t>
              </a:r>
              <a:r>
                <a:rPr lang="en-US" altLang="ko-KR" b="1" dirty="0" smtClean="0">
                  <a:solidFill>
                    <a:schemeClr val="tx1"/>
                  </a:solidFill>
                </a:rPr>
                <a:t>ICMP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왼쪽 대괄호 32"/>
            <p:cNvSpPr/>
            <p:nvPr/>
          </p:nvSpPr>
          <p:spPr>
            <a:xfrm>
              <a:off x="689123" y="2608730"/>
              <a:ext cx="178134" cy="2725228"/>
            </a:xfrm>
            <a:prstGeom prst="leftBracket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왼쪽 대괄호 33"/>
            <p:cNvSpPr/>
            <p:nvPr/>
          </p:nvSpPr>
          <p:spPr>
            <a:xfrm>
              <a:off x="301321" y="2828355"/>
              <a:ext cx="565936" cy="3168992"/>
            </a:xfrm>
            <a:prstGeom prst="leftBracket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966882" y="1076011"/>
            <a:ext cx="409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&lt; </a:t>
            </a:r>
            <a:r>
              <a:rPr lang="ko-KR" altLang="en-US" sz="2000" b="1" dirty="0" smtClean="0"/>
              <a:t>고정된 필드 </a:t>
            </a:r>
            <a:r>
              <a:rPr lang="en-US" altLang="ko-KR" sz="2000" b="1" dirty="0" smtClean="0"/>
              <a:t>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0221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21" y="235634"/>
            <a:ext cx="6055995" cy="53435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t="919"/>
          <a:stretch/>
        </p:blipFill>
        <p:spPr>
          <a:xfrm>
            <a:off x="488855" y="1945341"/>
            <a:ext cx="6868076" cy="424927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액자 4"/>
          <p:cNvSpPr/>
          <p:nvPr/>
        </p:nvSpPr>
        <p:spPr>
          <a:xfrm>
            <a:off x="867258" y="5396733"/>
            <a:ext cx="3749566" cy="233102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액자 9"/>
          <p:cNvSpPr/>
          <p:nvPr/>
        </p:nvSpPr>
        <p:spPr>
          <a:xfrm>
            <a:off x="867259" y="3756482"/>
            <a:ext cx="2530366" cy="214883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설명선 2 13"/>
          <p:cNvSpPr/>
          <p:nvPr/>
        </p:nvSpPr>
        <p:spPr>
          <a:xfrm>
            <a:off x="7960659" y="4325818"/>
            <a:ext cx="3388659" cy="10847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2582"/>
              <a:gd name="adj6" fmla="val -98519"/>
            </a:avLst>
          </a:prstGeom>
          <a:solidFill>
            <a:srgbClr val="FEBCBA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Request</a:t>
            </a:r>
            <a:r>
              <a:rPr lang="ko-KR" altLang="en-US" b="1" dirty="0" smtClean="0">
                <a:solidFill>
                  <a:schemeClr val="tx1"/>
                </a:solidFill>
              </a:rPr>
              <a:t>를 보내거나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TTL = 0 </a:t>
            </a:r>
            <a:r>
              <a:rPr lang="ko-KR" altLang="en-US" b="1" dirty="0" smtClean="0">
                <a:solidFill>
                  <a:schemeClr val="tx1"/>
                </a:solidFill>
              </a:rPr>
              <a:t>이 되면 바뀜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설명선 2 15"/>
          <p:cNvSpPr/>
          <p:nvPr/>
        </p:nvSpPr>
        <p:spPr>
          <a:xfrm>
            <a:off x="7960659" y="2304715"/>
            <a:ext cx="3388659" cy="10847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4732"/>
              <a:gd name="adj6" fmla="val -134497"/>
            </a:avLst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IP </a:t>
            </a:r>
            <a:r>
              <a:rPr lang="ko-KR" altLang="en-US" b="1" dirty="0" smtClean="0">
                <a:solidFill>
                  <a:schemeClr val="tx1"/>
                </a:solidFill>
              </a:rPr>
              <a:t>패킷들은</a:t>
            </a:r>
            <a:endParaRPr lang="en-US" altLang="ko-KR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각각 다른 값을 가져야 함</a:t>
            </a:r>
            <a:endParaRPr lang="en-US" altLang="ko-KR" b="1" dirty="0" smtClean="0">
              <a:solidFill>
                <a:schemeClr val="tx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66882" y="1076011"/>
            <a:ext cx="4096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&lt; </a:t>
            </a:r>
            <a:r>
              <a:rPr lang="ko-KR" altLang="en-US" sz="2000" b="1" dirty="0" smtClean="0"/>
              <a:t>변경 되는 필드 </a:t>
            </a:r>
            <a:r>
              <a:rPr lang="en-US" altLang="ko-KR" sz="2000" b="1" dirty="0" smtClean="0"/>
              <a:t>&gt;</a:t>
            </a:r>
            <a:endParaRPr lang="ko-KR" altLang="en-US" sz="2000" b="1" dirty="0"/>
          </a:p>
        </p:txBody>
      </p:sp>
      <p:sp>
        <p:nvSpPr>
          <p:cNvPr id="17" name="액자 16"/>
          <p:cNvSpPr/>
          <p:nvPr/>
        </p:nvSpPr>
        <p:spPr>
          <a:xfrm>
            <a:off x="867258" y="4974178"/>
            <a:ext cx="1472530" cy="216387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왼쪽 대괄호 17"/>
          <p:cNvSpPr/>
          <p:nvPr/>
        </p:nvSpPr>
        <p:spPr>
          <a:xfrm>
            <a:off x="301321" y="5090729"/>
            <a:ext cx="565936" cy="440495"/>
          </a:xfrm>
          <a:prstGeom prst="lef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43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68" y="2203144"/>
            <a:ext cx="4621637" cy="34613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26059" y="5912533"/>
            <a:ext cx="45155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IP </a:t>
            </a:r>
            <a:r>
              <a:rPr lang="ko-KR" altLang="en-US" b="1" dirty="0" err="1"/>
              <a:t>데이타그램의</a:t>
            </a:r>
            <a:r>
              <a:rPr lang="ko-KR" altLang="en-US" b="1" dirty="0"/>
              <a:t> </a:t>
            </a:r>
            <a:r>
              <a:rPr lang="en-US" altLang="ko-KR" b="1" dirty="0" smtClean="0"/>
              <a:t>Identification</a:t>
            </a:r>
            <a:r>
              <a:rPr lang="ko-KR" altLang="en-US" b="1" dirty="0" smtClean="0"/>
              <a:t>이 </a:t>
            </a:r>
            <a:endParaRPr lang="en-US" altLang="ko-KR" b="1" dirty="0" smtClean="0"/>
          </a:p>
          <a:p>
            <a:pPr algn="ctr"/>
            <a:r>
              <a:rPr lang="en-US" altLang="ko-KR" sz="2000" b="1" dirty="0" smtClean="0"/>
              <a:t>38980 </a:t>
            </a:r>
            <a:r>
              <a:rPr lang="ko-KR" altLang="en-US" sz="2000" b="1" dirty="0" smtClean="0"/>
              <a:t>만큼 값이 증가하였다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5" name="액자 4"/>
          <p:cNvSpPr/>
          <p:nvPr/>
        </p:nvSpPr>
        <p:spPr>
          <a:xfrm>
            <a:off x="1007857" y="3379654"/>
            <a:ext cx="2110498" cy="215193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867" y="364508"/>
            <a:ext cx="5843302" cy="27660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t="927" r="18551"/>
          <a:stretch/>
        </p:blipFill>
        <p:spPr>
          <a:xfrm>
            <a:off x="5883837" y="2203145"/>
            <a:ext cx="5274696" cy="34613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액자 8"/>
          <p:cNvSpPr/>
          <p:nvPr/>
        </p:nvSpPr>
        <p:spPr>
          <a:xfrm>
            <a:off x="6180492" y="3594848"/>
            <a:ext cx="1931203" cy="17033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>
            <a:endCxn id="9" idx="1"/>
          </p:cNvCxnSpPr>
          <p:nvPr/>
        </p:nvCxnSpPr>
        <p:spPr>
          <a:xfrm>
            <a:off x="3118355" y="3487271"/>
            <a:ext cx="3062137" cy="1927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75998" y="3225515"/>
            <a:ext cx="184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38980</a:t>
            </a:r>
            <a:r>
              <a:rPr lang="ko-KR" altLang="en-US" b="1" dirty="0" smtClean="0"/>
              <a:t>증가</a:t>
            </a:r>
            <a:endParaRPr lang="ko-KR" altLang="en-US" b="1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rcRect b="65439"/>
          <a:stretch/>
        </p:blipFill>
        <p:spPr>
          <a:xfrm>
            <a:off x="923796" y="1554661"/>
            <a:ext cx="10191750" cy="19422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t="68323"/>
          <a:stretch/>
        </p:blipFill>
        <p:spPr>
          <a:xfrm>
            <a:off x="923796" y="1825422"/>
            <a:ext cx="10191750" cy="17801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2549" y="944882"/>
            <a:ext cx="5362575" cy="4857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763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36" y="2203144"/>
            <a:ext cx="5938488" cy="347311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62" y="2203144"/>
            <a:ext cx="4621637" cy="346138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2953" y="5912533"/>
            <a:ext cx="45155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IP </a:t>
            </a:r>
            <a:r>
              <a:rPr lang="ko-KR" altLang="en-US" b="1" dirty="0" err="1"/>
              <a:t>데이타그램의</a:t>
            </a:r>
            <a:r>
              <a:rPr lang="ko-KR" altLang="en-US" b="1" dirty="0"/>
              <a:t> </a:t>
            </a:r>
            <a:r>
              <a:rPr lang="en-US" altLang="ko-KR" b="1" dirty="0" smtClean="0"/>
              <a:t>Identification</a:t>
            </a:r>
            <a:r>
              <a:rPr lang="ko-KR" altLang="en-US" b="1" dirty="0" smtClean="0"/>
              <a:t>이 </a:t>
            </a:r>
            <a:endParaRPr lang="en-US" altLang="ko-KR" b="1" dirty="0" smtClean="0"/>
          </a:p>
          <a:p>
            <a:pPr algn="ctr"/>
            <a:r>
              <a:rPr lang="ko-KR" altLang="en-US" sz="2000" b="1" dirty="0" smtClean="0"/>
              <a:t>하나씩 증가하였다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5" name="액자 4"/>
          <p:cNvSpPr/>
          <p:nvPr/>
        </p:nvSpPr>
        <p:spPr>
          <a:xfrm>
            <a:off x="1034751" y="3379654"/>
            <a:ext cx="2110498" cy="215193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867" y="364508"/>
            <a:ext cx="5843302" cy="276606"/>
          </a:xfrm>
          <a:prstGeom prst="rect">
            <a:avLst/>
          </a:prstGeom>
        </p:spPr>
      </p:pic>
      <p:sp>
        <p:nvSpPr>
          <p:cNvPr id="9" name="액자 8"/>
          <p:cNvSpPr/>
          <p:nvPr/>
        </p:nvSpPr>
        <p:spPr>
          <a:xfrm>
            <a:off x="5741221" y="3473826"/>
            <a:ext cx="2210473" cy="189351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3145249" y="3487271"/>
            <a:ext cx="2595972" cy="1075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57319" y="3225515"/>
            <a:ext cx="1846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 smtClean="0"/>
              <a:t>증가</a:t>
            </a:r>
            <a:endParaRPr lang="ko-KR" altLang="en-US" b="1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8968" y="1601550"/>
            <a:ext cx="10125075" cy="3714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34766" y="984919"/>
            <a:ext cx="535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/>
              <a:t>반대로</a:t>
            </a:r>
            <a:r>
              <a:rPr lang="en-US" altLang="ko-KR" b="1" dirty="0" smtClean="0"/>
              <a:t>, request -&gt; request</a:t>
            </a:r>
            <a:r>
              <a:rPr lang="ko-KR" altLang="en-US" b="1" dirty="0" smtClean="0"/>
              <a:t>의 경우엔 </a:t>
            </a:r>
            <a:r>
              <a:rPr lang="en-US" altLang="ko-KR" b="1" dirty="0" smtClean="0"/>
              <a:t>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9044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49" y="1152659"/>
            <a:ext cx="6855040" cy="52814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73361" y="3558906"/>
            <a:ext cx="4515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/>
              <a:t>182.162.30.31 </a:t>
            </a:r>
            <a:r>
              <a:rPr lang="ko-KR" altLang="en-US" sz="2000" b="1" dirty="0" smtClean="0"/>
              <a:t>이다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5" name="액자 4"/>
          <p:cNvSpPr/>
          <p:nvPr/>
        </p:nvSpPr>
        <p:spPr>
          <a:xfrm>
            <a:off x="714861" y="3505159"/>
            <a:ext cx="1777328" cy="179335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199" y="303738"/>
            <a:ext cx="4316730" cy="39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9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5" y="1058395"/>
            <a:ext cx="6372225" cy="53149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39485" y="3554069"/>
            <a:ext cx="45155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Identification </a:t>
            </a:r>
            <a:r>
              <a:rPr lang="en-US" altLang="ko-KR" b="1" dirty="0"/>
              <a:t>= </a:t>
            </a:r>
            <a:r>
              <a:rPr lang="en-US" altLang="ko-KR" b="1" dirty="0" smtClean="0"/>
              <a:t>0xd33e(54078),</a:t>
            </a:r>
          </a:p>
          <a:p>
            <a:pPr algn="ctr"/>
            <a:r>
              <a:rPr lang="en-US" altLang="ko-KR" b="1" dirty="0"/>
              <a:t> </a:t>
            </a:r>
            <a:r>
              <a:rPr lang="en-US" altLang="ko-KR" b="1" dirty="0" smtClean="0"/>
              <a:t>TTL = 255</a:t>
            </a:r>
            <a:r>
              <a:rPr lang="ko-KR" altLang="en-US" b="1" dirty="0" smtClean="0"/>
              <a:t>이다</a:t>
            </a:r>
            <a:r>
              <a:rPr lang="en-US" altLang="ko-KR" b="1" dirty="0" smtClean="0"/>
              <a:t>.</a:t>
            </a:r>
          </a:p>
        </p:txBody>
      </p:sp>
      <p:sp>
        <p:nvSpPr>
          <p:cNvPr id="5" name="액자 4"/>
          <p:cNvSpPr/>
          <p:nvPr/>
        </p:nvSpPr>
        <p:spPr>
          <a:xfrm>
            <a:off x="696931" y="2743159"/>
            <a:ext cx="1382882" cy="206229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514" y="335694"/>
            <a:ext cx="3054192" cy="334233"/>
          </a:xfrm>
          <a:prstGeom prst="rect">
            <a:avLst/>
          </a:prstGeom>
        </p:spPr>
      </p:pic>
      <p:sp>
        <p:nvSpPr>
          <p:cNvPr id="10" name="액자 9"/>
          <p:cNvSpPr/>
          <p:nvPr/>
        </p:nvSpPr>
        <p:spPr>
          <a:xfrm>
            <a:off x="696931" y="2375686"/>
            <a:ext cx="2333140" cy="215114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932" y="2582269"/>
            <a:ext cx="4976770" cy="65438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액자 12"/>
          <p:cNvSpPr/>
          <p:nvPr/>
        </p:nvSpPr>
        <p:spPr>
          <a:xfrm>
            <a:off x="696931" y="3908091"/>
            <a:ext cx="3892998" cy="206709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/>
          <p:cNvCxnSpPr>
            <a:stCxn id="9" idx="1"/>
            <a:endCxn id="13" idx="3"/>
          </p:cNvCxnSpPr>
          <p:nvPr/>
        </p:nvCxnSpPr>
        <p:spPr>
          <a:xfrm flipH="1">
            <a:off x="4589929" y="2909462"/>
            <a:ext cx="2282003" cy="1101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70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4" y="1269906"/>
            <a:ext cx="6624520" cy="50950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1202" y="2955103"/>
            <a:ext cx="451555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Fragment </a:t>
            </a:r>
            <a:r>
              <a:rPr lang="en-US" altLang="ko-KR" b="1" dirty="0"/>
              <a:t>offset</a:t>
            </a:r>
            <a:r>
              <a:rPr lang="ko-KR" altLang="en-US" b="1" dirty="0"/>
              <a:t>은 쪼개어진 </a:t>
            </a:r>
            <a:endParaRPr lang="en-US" altLang="ko-KR" b="1" dirty="0" smtClean="0"/>
          </a:p>
          <a:p>
            <a:pPr algn="ctr"/>
            <a:r>
              <a:rPr lang="ko-KR" altLang="en-US" b="1" dirty="0" smtClean="0"/>
              <a:t>패킷의 </a:t>
            </a:r>
            <a:r>
              <a:rPr lang="ko-KR" altLang="en-US" b="1" dirty="0"/>
              <a:t>순서를 </a:t>
            </a:r>
            <a:r>
              <a:rPr lang="ko-KR" altLang="en-US" b="1" dirty="0" smtClean="0"/>
              <a:t>나타낸다</a:t>
            </a:r>
            <a:r>
              <a:rPr lang="en-US" altLang="ko-KR" b="1" dirty="0" smtClean="0"/>
              <a:t>.</a:t>
            </a:r>
          </a:p>
          <a:p>
            <a:pPr algn="ctr"/>
            <a:endParaRPr lang="en-US" altLang="ko-KR" b="1" dirty="0"/>
          </a:p>
          <a:p>
            <a:pPr algn="ctr"/>
            <a:r>
              <a:rPr lang="ko-KR" altLang="en-US" b="1" dirty="0" smtClean="0"/>
              <a:t>이 값에 변화가 있는 것을 보니</a:t>
            </a:r>
            <a:endParaRPr lang="en-US" altLang="ko-KR" b="1" dirty="0" smtClean="0"/>
          </a:p>
          <a:p>
            <a:pPr algn="ctr"/>
            <a:r>
              <a:rPr lang="ko-KR" altLang="en-US" sz="2000" b="1" dirty="0" smtClean="0"/>
              <a:t>단편화가 되었음을 알 수 있다</a:t>
            </a:r>
            <a:r>
              <a:rPr lang="en-US" altLang="ko-KR" sz="2000" b="1" dirty="0" smtClean="0"/>
              <a:t>.</a:t>
            </a:r>
            <a:endParaRPr lang="ko-KR" altLang="en-US" sz="2000" b="1" dirty="0"/>
          </a:p>
        </p:txBody>
      </p:sp>
      <p:sp>
        <p:nvSpPr>
          <p:cNvPr id="10" name="액자 9"/>
          <p:cNvSpPr/>
          <p:nvPr/>
        </p:nvSpPr>
        <p:spPr>
          <a:xfrm>
            <a:off x="858296" y="3608312"/>
            <a:ext cx="3328222" cy="201688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566" y="345649"/>
            <a:ext cx="513397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1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4" y="1269906"/>
            <a:ext cx="6624520" cy="50950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67766" y="2438963"/>
            <a:ext cx="4705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2 IPv4 Fragments </a:t>
            </a:r>
            <a:r>
              <a:rPr lang="ko-KR" altLang="en-US" sz="1600" b="1" dirty="0" smtClean="0"/>
              <a:t>헤더에서 표시</a:t>
            </a:r>
            <a:r>
              <a:rPr lang="en-US" altLang="ko-KR" sz="1600" b="1" dirty="0" smtClean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첫 번째 페이로드 </a:t>
            </a:r>
            <a:r>
              <a:rPr lang="en-US" altLang="ko-KR" sz="1600" b="1" dirty="0" smtClean="0"/>
              <a:t>= 1480 byte</a:t>
            </a:r>
          </a:p>
          <a:p>
            <a:pPr algn="ctr"/>
            <a:r>
              <a:rPr lang="ko-KR" altLang="en-US" sz="1600" b="1" dirty="0" smtClean="0"/>
              <a:t>두 번째 페이로드 </a:t>
            </a:r>
            <a:r>
              <a:rPr lang="en-US" altLang="ko-KR" sz="1600" b="1" dirty="0" smtClean="0"/>
              <a:t>= 500 byte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총 합 </a:t>
            </a:r>
            <a:r>
              <a:rPr lang="en-US" altLang="ko-KR" sz="1600" b="1" dirty="0" smtClean="0"/>
              <a:t>1980 byte </a:t>
            </a:r>
            <a:r>
              <a:rPr lang="ko-KR" altLang="en-US" sz="1600" b="1" dirty="0" smtClean="0"/>
              <a:t>이다</a:t>
            </a:r>
            <a:r>
              <a:rPr lang="en-US" altLang="ko-KR" sz="1600" b="1" dirty="0" smtClean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또한</a:t>
            </a:r>
            <a:r>
              <a:rPr lang="en-US" altLang="ko-KR" sz="1600" b="1" dirty="0" smtClean="0"/>
              <a:t>, </a:t>
            </a:r>
            <a:r>
              <a:rPr lang="ko-KR" altLang="en-US" sz="1600" b="1" dirty="0" smtClean="0"/>
              <a:t>이를 통해 패킷 </a:t>
            </a:r>
            <a:r>
              <a:rPr lang="ko-KR" altLang="en-US" sz="1600" b="1" dirty="0" err="1" smtClean="0"/>
              <a:t>리스팅</a:t>
            </a:r>
            <a:r>
              <a:rPr lang="ko-KR" altLang="en-US" sz="1600" b="1" dirty="0" smtClean="0"/>
              <a:t> 윈도우 에서</a:t>
            </a:r>
            <a:endParaRPr lang="en-US" altLang="ko-KR" sz="1600" b="1" dirty="0" smtClean="0"/>
          </a:p>
          <a:p>
            <a:pPr algn="ctr"/>
            <a:r>
              <a:rPr lang="ko-KR" altLang="en-US" sz="1600" b="1" dirty="0" smtClean="0"/>
              <a:t>패킷의 크기를 </a:t>
            </a:r>
            <a:r>
              <a:rPr lang="en-US" altLang="ko-KR" sz="1600" b="1" dirty="0" smtClean="0"/>
              <a:t>2000byte</a:t>
            </a:r>
            <a:r>
              <a:rPr lang="ko-KR" altLang="en-US" sz="1600" b="1" dirty="0" smtClean="0"/>
              <a:t>로 주었음을 알 수 있다</a:t>
            </a:r>
            <a:r>
              <a:rPr lang="en-US" altLang="ko-KR" sz="1600" b="1" dirty="0" smtClean="0"/>
              <a:t>.</a:t>
            </a:r>
            <a:endParaRPr lang="ko-KR" altLang="en-US" sz="16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094" y="364508"/>
            <a:ext cx="4932807" cy="276606"/>
          </a:xfrm>
          <a:prstGeom prst="rect">
            <a:avLst/>
          </a:prstGeom>
        </p:spPr>
      </p:pic>
      <p:sp>
        <p:nvSpPr>
          <p:cNvPr id="8" name="액자 7"/>
          <p:cNvSpPr/>
          <p:nvPr/>
        </p:nvSpPr>
        <p:spPr>
          <a:xfrm>
            <a:off x="654424" y="4968696"/>
            <a:ext cx="6069105" cy="117971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92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4" y="1269906"/>
            <a:ext cx="6624520" cy="50950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1907" y="2660372"/>
            <a:ext cx="47058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2 IPv4 Fragments </a:t>
            </a:r>
            <a:r>
              <a:rPr lang="ko-KR" altLang="en-US" sz="1600" b="1" dirty="0" smtClean="0"/>
              <a:t>헤더에서 표시</a:t>
            </a:r>
            <a:r>
              <a:rPr lang="en-US" altLang="ko-KR" sz="1600" b="1" dirty="0" smtClean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첫 번째 페이로드 </a:t>
            </a:r>
            <a:r>
              <a:rPr lang="en-US" altLang="ko-KR" sz="1600" b="1" dirty="0" smtClean="0"/>
              <a:t>= 1480 byte</a:t>
            </a:r>
          </a:p>
          <a:p>
            <a:pPr algn="ctr"/>
            <a:r>
              <a:rPr lang="ko-KR" altLang="en-US" sz="1600" b="1" dirty="0" smtClean="0"/>
              <a:t>두 번째 페이로드 </a:t>
            </a:r>
            <a:r>
              <a:rPr lang="en-US" altLang="ko-KR" sz="1600" b="1" dirty="0" smtClean="0"/>
              <a:t>= 500 byte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총 합 </a:t>
            </a:r>
            <a:r>
              <a:rPr lang="en-US" altLang="ko-KR" sz="1600" b="1" dirty="0" smtClean="0"/>
              <a:t>1980 byte </a:t>
            </a:r>
            <a:r>
              <a:rPr lang="ko-KR" altLang="en-US" sz="1600" b="1" dirty="0" smtClean="0"/>
              <a:t>이다</a:t>
            </a:r>
            <a:r>
              <a:rPr lang="en-US" altLang="ko-KR" sz="1600" b="1" dirty="0" smtClean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앞의 문제와 답은 동일하며</a:t>
            </a:r>
            <a:r>
              <a:rPr lang="en-US" altLang="ko-KR" sz="1600" b="1" dirty="0" smtClean="0"/>
              <a:t>,</a:t>
            </a:r>
          </a:p>
          <a:p>
            <a:pPr algn="ctr"/>
            <a:r>
              <a:rPr lang="ko-KR" altLang="en-US" sz="1600" b="1" dirty="0" smtClean="0"/>
              <a:t>데이터 그램의 순서는 사진과 같이 나와있다</a:t>
            </a:r>
            <a:r>
              <a:rPr lang="en-US" altLang="ko-KR" sz="1600" b="1" dirty="0" smtClean="0"/>
              <a:t>.</a:t>
            </a:r>
          </a:p>
        </p:txBody>
      </p:sp>
      <p:sp>
        <p:nvSpPr>
          <p:cNvPr id="8" name="액자 7"/>
          <p:cNvSpPr/>
          <p:nvPr/>
        </p:nvSpPr>
        <p:spPr>
          <a:xfrm>
            <a:off x="654424" y="4968696"/>
            <a:ext cx="6069105" cy="117971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85" y="274211"/>
            <a:ext cx="56769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61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4" y="1269906"/>
            <a:ext cx="6624520" cy="509503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9837" y="3278814"/>
            <a:ext cx="4705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첫 번째 페이로드 </a:t>
            </a:r>
            <a:r>
              <a:rPr lang="en-US" altLang="ko-KR" sz="1600" b="1" dirty="0" smtClean="0"/>
              <a:t>= 1480 byte</a:t>
            </a:r>
          </a:p>
          <a:p>
            <a:pPr algn="ctr"/>
            <a:r>
              <a:rPr lang="ko-KR" altLang="en-US" sz="1600" b="1" dirty="0" smtClean="0"/>
              <a:t>두 번째 페이로드 </a:t>
            </a:r>
            <a:r>
              <a:rPr lang="en-US" altLang="ko-KR" sz="1600" b="1" dirty="0" smtClean="0"/>
              <a:t>= 500 byte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1600" b="1" dirty="0" smtClean="0"/>
              <a:t>총 합 </a:t>
            </a:r>
            <a:r>
              <a:rPr lang="en-US" altLang="ko-KR" sz="1600" b="1" dirty="0" smtClean="0"/>
              <a:t>1980 byte </a:t>
            </a:r>
            <a:r>
              <a:rPr lang="ko-KR" altLang="en-US" sz="1600" b="1" dirty="0" smtClean="0"/>
              <a:t>이다</a:t>
            </a:r>
            <a:r>
              <a:rPr lang="en-US" altLang="ko-KR" sz="1600" b="1" dirty="0" smtClean="0"/>
              <a:t>.</a:t>
            </a:r>
          </a:p>
        </p:txBody>
      </p:sp>
      <p:sp>
        <p:nvSpPr>
          <p:cNvPr id="8" name="액자 7"/>
          <p:cNvSpPr/>
          <p:nvPr/>
        </p:nvSpPr>
        <p:spPr>
          <a:xfrm>
            <a:off x="860612" y="5136775"/>
            <a:ext cx="3343835" cy="430307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099" y="350886"/>
            <a:ext cx="5406390" cy="30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97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354" y="1567586"/>
            <a:ext cx="4918557" cy="38444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91" y="1567586"/>
            <a:ext cx="4992631" cy="38444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1196" y="5756684"/>
            <a:ext cx="90183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IDENTIFICATION </a:t>
            </a:r>
            <a:r>
              <a:rPr lang="ko-KR" altLang="en-US" sz="1600" b="1" dirty="0" smtClean="0"/>
              <a:t>과 </a:t>
            </a:r>
            <a:r>
              <a:rPr lang="en-US" altLang="ko-KR" sz="1600" b="1" dirty="0"/>
              <a:t>TTL</a:t>
            </a:r>
            <a:r>
              <a:rPr lang="ko-KR" altLang="en-US" sz="1600" b="1" dirty="0"/>
              <a:t>이 변한다</a:t>
            </a:r>
            <a:r>
              <a:rPr lang="en-US" altLang="ko-KR" sz="1600" b="1" dirty="0" smtClean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b="1" dirty="0" smtClean="0"/>
              <a:t>3 </a:t>
            </a:r>
            <a:r>
              <a:rPr lang="en-US" altLang="ko-KR" b="1" dirty="0"/>
              <a:t>IPv4 </a:t>
            </a:r>
            <a:r>
              <a:rPr lang="en-US" altLang="ko-KR" b="1" dirty="0" smtClean="0"/>
              <a:t>Fragments </a:t>
            </a:r>
            <a:r>
              <a:rPr lang="ko-KR" altLang="en-US" b="1" dirty="0" smtClean="0"/>
              <a:t>헤더를 보면 패킷의 크기가 약 </a:t>
            </a:r>
            <a:r>
              <a:rPr lang="en-US" altLang="ko-KR" b="1" dirty="0" smtClean="0"/>
              <a:t>3500 byte</a:t>
            </a:r>
            <a:r>
              <a:rPr lang="ko-KR" altLang="en-US" b="1" dirty="0" smtClean="0"/>
              <a:t>인 것을 확인할 수 있다</a:t>
            </a:r>
            <a:r>
              <a:rPr lang="en-US" altLang="ko-KR" b="1" dirty="0" smtClean="0"/>
              <a:t>.</a:t>
            </a:r>
            <a:endParaRPr lang="ko-KR" altLang="en-US" b="1" dirty="0"/>
          </a:p>
        </p:txBody>
      </p:sp>
      <p:sp>
        <p:nvSpPr>
          <p:cNvPr id="13" name="오른쪽 화살표 12"/>
          <p:cNvSpPr/>
          <p:nvPr/>
        </p:nvSpPr>
        <p:spPr>
          <a:xfrm>
            <a:off x="4145725" y="4560489"/>
            <a:ext cx="2349200" cy="14075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491316" y="4701247"/>
            <a:ext cx="1874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/>
              <a:t>다음 데이터 그램</a:t>
            </a:r>
            <a:endParaRPr lang="ko-KR" altLang="en-US" sz="1600" b="1" dirty="0"/>
          </a:p>
        </p:txBody>
      </p:sp>
      <p:sp>
        <p:nvSpPr>
          <p:cNvPr id="8" name="액자 7"/>
          <p:cNvSpPr/>
          <p:nvPr/>
        </p:nvSpPr>
        <p:spPr>
          <a:xfrm>
            <a:off x="1207562" y="258281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액자 8"/>
          <p:cNvSpPr/>
          <p:nvPr/>
        </p:nvSpPr>
        <p:spPr>
          <a:xfrm>
            <a:off x="6365388" y="258281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액자 9"/>
          <p:cNvSpPr/>
          <p:nvPr/>
        </p:nvSpPr>
        <p:spPr>
          <a:xfrm>
            <a:off x="6365387" y="345109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액자 11"/>
          <p:cNvSpPr/>
          <p:nvPr/>
        </p:nvSpPr>
        <p:spPr>
          <a:xfrm>
            <a:off x="1225492" y="3456479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1261" y="252720"/>
            <a:ext cx="6192203" cy="492443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786" y="922962"/>
            <a:ext cx="5391150" cy="514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904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217" y="1235896"/>
            <a:ext cx="5338584" cy="41108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1196" y="5756684"/>
            <a:ext cx="901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3</a:t>
            </a:r>
            <a:r>
              <a:rPr lang="ko-KR" altLang="en-US" sz="1600" b="1" dirty="0" smtClean="0"/>
              <a:t>개</a:t>
            </a:r>
            <a:endParaRPr lang="ko-KR" altLang="en-US" b="1" dirty="0"/>
          </a:p>
        </p:txBody>
      </p:sp>
      <p:sp>
        <p:nvSpPr>
          <p:cNvPr id="8" name="액자 7"/>
          <p:cNvSpPr/>
          <p:nvPr/>
        </p:nvSpPr>
        <p:spPr>
          <a:xfrm>
            <a:off x="3816293" y="4850885"/>
            <a:ext cx="1230838" cy="16935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922" y="362131"/>
            <a:ext cx="3090863" cy="30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7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/>
          <p:cNvSpPr/>
          <p:nvPr/>
        </p:nvSpPr>
        <p:spPr>
          <a:xfrm>
            <a:off x="156754" y="179646"/>
            <a:ext cx="11887200" cy="646331"/>
          </a:xfrm>
          <a:prstGeom prst="roundRect">
            <a:avLst>
              <a:gd name="adj" fmla="val 50000"/>
            </a:avLst>
          </a:prstGeom>
          <a:solidFill>
            <a:srgbClr val="DC66B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1196" y="5756684"/>
            <a:ext cx="901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아까와 동일한 </a:t>
            </a:r>
            <a:r>
              <a:rPr lang="en-US" altLang="ko-KR" sz="1600" b="1" dirty="0" smtClean="0"/>
              <a:t>IP </a:t>
            </a:r>
            <a:r>
              <a:rPr lang="ko-KR" altLang="en-US" sz="1600" b="1" dirty="0" smtClean="0"/>
              <a:t>헤더 필드가 변경된다</a:t>
            </a:r>
            <a:r>
              <a:rPr lang="en-US" altLang="ko-KR" sz="1600" b="1" dirty="0" smtClean="0"/>
              <a:t>.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304" y="324169"/>
            <a:ext cx="4610100" cy="35728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4" y="1567586"/>
            <a:ext cx="4918557" cy="38444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91" y="1567586"/>
            <a:ext cx="4992631" cy="384447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액자 13"/>
          <p:cNvSpPr/>
          <p:nvPr/>
        </p:nvSpPr>
        <p:spPr>
          <a:xfrm>
            <a:off x="1207562" y="258281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액자 14"/>
          <p:cNvSpPr/>
          <p:nvPr/>
        </p:nvSpPr>
        <p:spPr>
          <a:xfrm>
            <a:off x="6365388" y="258281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액자 15"/>
          <p:cNvSpPr/>
          <p:nvPr/>
        </p:nvSpPr>
        <p:spPr>
          <a:xfrm>
            <a:off x="6365387" y="3451095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액자 16"/>
          <p:cNvSpPr/>
          <p:nvPr/>
        </p:nvSpPr>
        <p:spPr>
          <a:xfrm>
            <a:off x="1225492" y="3456479"/>
            <a:ext cx="1884805" cy="174460"/>
          </a:xfrm>
          <a:prstGeom prst="frame">
            <a:avLst>
              <a:gd name="adj1" fmla="val 2600"/>
            </a:avLst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2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307</Words>
  <Application>Microsoft Office PowerPoint</Application>
  <PresentationFormat>와이드스크린</PresentationFormat>
  <Paragraphs>73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seok</dc:creator>
  <cp:lastModifiedBy>ADMIN</cp:lastModifiedBy>
  <cp:revision>47</cp:revision>
  <dcterms:created xsi:type="dcterms:W3CDTF">2016-05-30T10:48:09Z</dcterms:created>
  <dcterms:modified xsi:type="dcterms:W3CDTF">2019-12-01T20:08:33Z</dcterms:modified>
</cp:coreProperties>
</file>